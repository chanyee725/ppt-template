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01a5a09d-a1bf-2970-0c80-32d325aec017}">
          <p14:sldIdLst>
            <p14:sldId id="256"/>
          </p14:sldIdLst>
        </p14:section>
        <p14:section name="Project Roadmap" id="{cd19174f-54ad-0a41-b733-13920cd68413}">
          <p14:sldIdLst>
            <p14:sldId id="257"/>
          </p14:sldIdLst>
        </p14:section>
        <p14:section name="Project FlowChart" id="{a3698d21-caad-31f3-12e8-8c58ae17b495}">
          <p14:sldIdLst>
            <p14:sldId id="258"/>
          </p14:sldIdLst>
        </p14:section>
        <p14:section name="Phase 1 로봇 셋업" id="{4cbda0db-898e-ab93-167d-daf2704d67c3}">
          <p14:sldIdLst>
            <p14:sldId id="259"/>
          </p14:sldIdLst>
        </p14:section>
        <p14:section name="Phase 2 카메라 셋업" id="{059935eb-b528-d678-8d00-63135fac78f9}">
          <p14:sldIdLst>
            <p14:sldId id="260"/>
          </p14:sldIdLst>
        </p14:section>
        <p14:section name="Phase 3 대차 PLC 통합" id="{498f5066-bf17-6aad-924e-2ee3afec84aa}">
          <p14:sldIdLst>
            <p14:sldId id="261"/>
          </p14:sldIdLst>
        </p14:section>
        <p14:section name="Phase 4 전체 시퀀스 테스트" id="{0a35a2f7-8a2f-d5a6-c8db-8f987c158033}">
          <p14:sldIdLst>
            <p14:sldId id="262"/>
          </p14:sldIdLst>
        </p14:section>
        <p14:section name="이슈 및 향후 계획" id="{006591c5-32b8-a308-d90b-2d47f0b72359}">
          <p14:sldIdLst>
            <p14:sldId id="263"/>
            <p14:sldId id="264"/>
          </p14:sldIdLst>
        </p14:section>
        <p14:section name="마무리" id="{3087a175-8ec7-3149-45cd-2e5cf452aa09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667512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en-US" sz="4000" b="1" dirty="0">
                <a:solidFill>
                  <a:schemeClr val="tx2"/>
                </a:solidFill>
                <a:latin typeface="+mj-lt" pitchFamily="34" charset="0"/>
                <a:ea typeface="+mj-ea" pitchFamily="34" charset="-122"/>
                <a:cs typeface="+mj-lt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313432"/>
            <a:ext cx="96012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365760"/>
            <a:ext cx="45720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  <a:latin typeface="+mj-lt" pitchFamily="34" charset="0"/>
                <a:ea typeface="+mj-ea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6156655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프로젝트 중간 보고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0"/>
            <a:ext cx="2011680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Shape 1"/>
          <p:cNvSpPr/>
          <p:nvPr/>
        </p:nvSpPr>
        <p:spPr>
          <a:xfrm>
            <a:off x="2834640" y="3611880"/>
            <a:ext cx="9357055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3291840" y="2834640"/>
            <a:ext cx="7772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+mj-lt" pitchFamily="34" charset="0"/>
                <a:ea typeface="+mj-ea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82296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720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7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56655" y="3474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프로젝트 중간 보고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" name="Shape 2"/>
          <p:cNvSpPr/>
          <p:nvPr/>
        </p:nvSpPr>
        <p:spPr>
          <a:xfrm>
            <a:off x="11323015" y="6510528"/>
            <a:ext cx="320040" cy="0"/>
          </a:xfrm>
          <a:prstGeom prst="line">
            <a:avLst/>
          </a:prstGeom>
          <a:noFill/>
          <a:ln w="635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274320"/>
            <a:ext cx="5943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Shape 1"/>
          <p:cNvSpPr/>
          <p:nvPr/>
        </p:nvSpPr>
        <p:spPr>
          <a:xfrm>
            <a:off x="11323015" y="6510528"/>
            <a:ext cx="320040" cy="0"/>
          </a:xfrm>
          <a:prstGeom prst="line">
            <a:avLst/>
          </a:prstGeom>
          <a:noFill/>
          <a:ln w="6350">
            <a:solidFill>
              <a:schemeClr val="accent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0" cy="1371600"/>
          </a:xfrm>
          <a:prstGeom prst="line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09728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667512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프로젝트 이름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중간 보고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31343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2026년 10월 2주차 중간보고</a:t>
            </a:r>
            <a:endParaRPr lang="en-US" sz="1500" dirty="0"/>
          </a:p>
        </p:txBody>
      </p:sp>
      <p:sp>
        <p:nvSpPr>
          <p:cNvPr id="4" name="presenter-org"/>
          <p:cNvSpPr txBox="1"/>
          <p:nvPr/>
        </p:nvSpPr>
        <p:spPr>
          <a:xfrm>
            <a:off x="822960" y="5138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회사 · 부서</a:t>
            </a:r>
            <a:endParaRPr lang="en-US" sz="1300" dirty="0"/>
          </a:p>
        </p:txBody>
      </p:sp>
      <p:sp>
        <p:nvSpPr>
          <p:cNvPr id="5" name="presenter-name"/>
          <p:cNvSpPr txBox="1"/>
          <p:nvPr/>
        </p:nvSpPr>
        <p:spPr>
          <a:xfrm>
            <a:off x="822960" y="546811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직책 이름</a:t>
            </a:r>
            <a:endParaRPr lang="en-US" sz="1700" dirty="0"/>
          </a:p>
        </p:txBody>
      </p:sp>
      <p:sp>
        <p:nvSpPr>
          <p:cNvPr id="6" name="date"/>
          <p:cNvSpPr txBox="1"/>
          <p:nvPr/>
        </p:nvSpPr>
        <p:spPr>
          <a:xfrm>
            <a:off x="8625535" y="54681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2026. 10. 13.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 txBox="1"/>
          <p:nvPr/>
        </p:nvSpPr>
        <p:spPr>
          <a:xfrm>
            <a:off x="6156655" y="3474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Project Roadmap</a:t>
            </a:r>
            <a:endParaRPr lang="en-US" sz="1100" dirty="0"/>
          </a:p>
        </p:txBody>
      </p:sp>
      <p:sp>
        <p:nvSpPr>
          <p:cNvPr id="3" name="phases-line"/>
          <p:cNvSpPr/>
          <p:nvPr/>
        </p:nvSpPr>
        <p:spPr>
          <a:xfrm>
            <a:off x="1658082" y="3191256"/>
            <a:ext cx="8875532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4" name="phases-progress"/>
          <p:cNvSpPr/>
          <p:nvPr/>
        </p:nvSpPr>
        <p:spPr>
          <a:xfrm>
            <a:off x="1658082" y="3191256"/>
            <a:ext cx="4437766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5" name="phases-0-label"/>
          <p:cNvSpPr txBox="1"/>
          <p:nvPr/>
        </p:nvSpPr>
        <p:spPr>
          <a:xfrm>
            <a:off x="548640" y="2624328"/>
            <a:ext cx="22188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1</a:t>
            </a:r>
            <a:endParaRPr lang="en-US" sz="1100" dirty="0"/>
          </a:p>
        </p:txBody>
      </p:sp>
      <p:sp>
        <p:nvSpPr>
          <p:cNvPr id="6" name="phases-0-halo"/>
          <p:cNvSpPr/>
          <p:nvPr/>
        </p:nvSpPr>
        <p:spPr>
          <a:xfrm>
            <a:off x="1502634" y="3035808"/>
            <a:ext cx="310896" cy="310896"/>
          </a:xfrm>
          <a:prstGeom prst="ellipse">
            <a:avLst/>
          </a:prstGeom>
          <a:solidFill>
            <a:schemeClr val="tx2">
              <a:alpha val="40000"/>
            </a:schemeClr>
          </a:solidFill>
          <a:ln/>
        </p:spPr>
      </p:sp>
      <p:sp>
        <p:nvSpPr>
          <p:cNvPr id="7" name="phases-0-dot"/>
          <p:cNvSpPr/>
          <p:nvPr/>
        </p:nvSpPr>
        <p:spPr>
          <a:xfrm>
            <a:off x="1557498" y="3090672"/>
            <a:ext cx="201168" cy="20116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phases-0-title"/>
          <p:cNvSpPr txBox="1"/>
          <p:nvPr/>
        </p:nvSpPr>
        <p:spPr>
          <a:xfrm>
            <a:off x="640080" y="3557016"/>
            <a:ext cx="2036003" cy="261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요구사항 정의</a:t>
            </a:r>
            <a:endParaRPr lang="en-US" sz="1300" dirty="0"/>
          </a:p>
        </p:txBody>
      </p:sp>
      <p:sp>
        <p:nvSpPr>
          <p:cNvPr id="9" name="phases-0-desc"/>
          <p:cNvSpPr txBox="1"/>
          <p:nvPr/>
        </p:nvSpPr>
        <p:spPr>
          <a:xfrm>
            <a:off x="658368" y="3946271"/>
            <a:ext cx="1999427" cy="2088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작업 대상과 처리량,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현장 조건을 정리</a:t>
            </a:r>
            <a:endParaRPr lang="en-US" sz="1050" dirty="0"/>
          </a:p>
        </p:txBody>
      </p:sp>
      <p:sp>
        <p:nvSpPr>
          <p:cNvPr id="10" name="phases-1-label"/>
          <p:cNvSpPr txBox="1"/>
          <p:nvPr/>
        </p:nvSpPr>
        <p:spPr>
          <a:xfrm>
            <a:off x="2767523" y="2624328"/>
            <a:ext cx="22188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2</a:t>
            </a:r>
            <a:endParaRPr lang="en-US" sz="1100" dirty="0"/>
          </a:p>
        </p:txBody>
      </p:sp>
      <p:sp>
        <p:nvSpPr>
          <p:cNvPr id="11" name="phases-1-halo"/>
          <p:cNvSpPr/>
          <p:nvPr/>
        </p:nvSpPr>
        <p:spPr>
          <a:xfrm>
            <a:off x="3721517" y="3035808"/>
            <a:ext cx="310896" cy="310896"/>
          </a:xfrm>
          <a:prstGeom prst="ellipse">
            <a:avLst/>
          </a:prstGeom>
          <a:solidFill>
            <a:schemeClr val="tx2">
              <a:alpha val="40000"/>
            </a:schemeClr>
          </a:solidFill>
          <a:ln/>
        </p:spPr>
      </p:sp>
      <p:sp>
        <p:nvSpPr>
          <p:cNvPr id="12" name="phases-1-dot"/>
          <p:cNvSpPr/>
          <p:nvPr/>
        </p:nvSpPr>
        <p:spPr>
          <a:xfrm>
            <a:off x="3776381" y="3090672"/>
            <a:ext cx="201168" cy="20116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phases-1-title"/>
          <p:cNvSpPr txBox="1"/>
          <p:nvPr/>
        </p:nvSpPr>
        <p:spPr>
          <a:xfrm>
            <a:off x="2858963" y="3557016"/>
            <a:ext cx="2036003" cy="261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시스템 설계</a:t>
            </a:r>
            <a:endParaRPr lang="en-US" sz="1300" dirty="0"/>
          </a:p>
        </p:txBody>
      </p:sp>
      <p:sp>
        <p:nvSpPr>
          <p:cNvPr id="14" name="phases-1-desc"/>
          <p:cNvSpPr txBox="1"/>
          <p:nvPr/>
        </p:nvSpPr>
        <p:spPr>
          <a:xfrm>
            <a:off x="2877251" y="3946271"/>
            <a:ext cx="1999427" cy="2088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로봇 · 카메라 · 대차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구성과 인터페이스 결정</a:t>
            </a:r>
            <a:endParaRPr lang="en-US" sz="1050" dirty="0"/>
          </a:p>
        </p:txBody>
      </p:sp>
      <p:sp>
        <p:nvSpPr>
          <p:cNvPr id="15" name="phases-2-label"/>
          <p:cNvSpPr txBox="1"/>
          <p:nvPr/>
        </p:nvSpPr>
        <p:spPr>
          <a:xfrm>
            <a:off x="4986406" y="2624328"/>
            <a:ext cx="22188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3</a:t>
            </a:r>
            <a:endParaRPr lang="en-US" sz="1100" dirty="0"/>
          </a:p>
        </p:txBody>
      </p:sp>
      <p:sp>
        <p:nvSpPr>
          <p:cNvPr id="16" name="phases-2-halo"/>
          <p:cNvSpPr/>
          <p:nvPr/>
        </p:nvSpPr>
        <p:spPr>
          <a:xfrm>
            <a:off x="5940400" y="3035808"/>
            <a:ext cx="310896" cy="310896"/>
          </a:xfrm>
          <a:prstGeom prst="ellipse">
            <a:avLst/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17" name="phases-2-dot"/>
          <p:cNvSpPr/>
          <p:nvPr/>
        </p:nvSpPr>
        <p:spPr>
          <a:xfrm>
            <a:off x="5995264" y="3090672"/>
            <a:ext cx="201168" cy="2011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phases-2-title"/>
          <p:cNvSpPr txBox="1"/>
          <p:nvPr/>
        </p:nvSpPr>
        <p:spPr>
          <a:xfrm>
            <a:off x="5077846" y="3557016"/>
            <a:ext cx="2036003" cy="261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통합 개발</a:t>
            </a:r>
            <a:endParaRPr lang="en-US" sz="1300" dirty="0"/>
          </a:p>
        </p:txBody>
      </p:sp>
      <p:sp>
        <p:nvSpPr>
          <p:cNvPr id="19" name="phases-2-desc"/>
          <p:cNvSpPr txBox="1"/>
          <p:nvPr/>
        </p:nvSpPr>
        <p:spPr>
          <a:xfrm>
            <a:off x="5096134" y="3946271"/>
            <a:ext cx="1999427" cy="2088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장비 셋업과 연동,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픽업 시퀀스 구현</a:t>
            </a:r>
            <a:endParaRPr lang="en-US" sz="1050" dirty="0"/>
          </a:p>
        </p:txBody>
      </p:sp>
      <p:sp>
        <p:nvSpPr>
          <p:cNvPr id="20" name="phases-3-label"/>
          <p:cNvSpPr txBox="1"/>
          <p:nvPr/>
        </p:nvSpPr>
        <p:spPr>
          <a:xfrm>
            <a:off x="7205289" y="2624328"/>
            <a:ext cx="22188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Phase 4</a:t>
            </a:r>
            <a:endParaRPr lang="en-US" sz="1100" dirty="0"/>
          </a:p>
        </p:txBody>
      </p:sp>
      <p:sp>
        <p:nvSpPr>
          <p:cNvPr id="21" name="phases-3-halo"/>
          <p:cNvSpPr/>
          <p:nvPr/>
        </p:nvSpPr>
        <p:spPr>
          <a:xfrm>
            <a:off x="8159283" y="3035808"/>
            <a:ext cx="310896" cy="31089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2" name="phases-3-dot"/>
          <p:cNvSpPr/>
          <p:nvPr/>
        </p:nvSpPr>
        <p:spPr>
          <a:xfrm>
            <a:off x="8214147" y="3090672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phases-3-title"/>
          <p:cNvSpPr txBox="1"/>
          <p:nvPr/>
        </p:nvSpPr>
        <p:spPr>
          <a:xfrm>
            <a:off x="7296729" y="3557016"/>
            <a:ext cx="2036003" cy="261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현장 시운전</a:t>
            </a:r>
            <a:endParaRPr lang="en-US" sz="1300" dirty="0"/>
          </a:p>
        </p:txBody>
      </p:sp>
      <p:sp>
        <p:nvSpPr>
          <p:cNvPr id="24" name="phases-3-desc"/>
          <p:cNvSpPr txBox="1"/>
          <p:nvPr/>
        </p:nvSpPr>
        <p:spPr>
          <a:xfrm>
            <a:off x="7315017" y="3946271"/>
            <a:ext cx="1999427" cy="2088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실제 라인에서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반복 운전과 보완</a:t>
            </a:r>
            <a:endParaRPr lang="en-US" sz="1050" dirty="0"/>
          </a:p>
        </p:txBody>
      </p:sp>
      <p:sp>
        <p:nvSpPr>
          <p:cNvPr id="25" name="phases-4-label"/>
          <p:cNvSpPr txBox="1"/>
          <p:nvPr/>
        </p:nvSpPr>
        <p:spPr>
          <a:xfrm>
            <a:off x="9424172" y="2624328"/>
            <a:ext cx="22188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Phase 5</a:t>
            </a:r>
            <a:endParaRPr lang="en-US" sz="1100" dirty="0"/>
          </a:p>
        </p:txBody>
      </p:sp>
      <p:sp>
        <p:nvSpPr>
          <p:cNvPr id="26" name="phases-4-halo"/>
          <p:cNvSpPr/>
          <p:nvPr/>
        </p:nvSpPr>
        <p:spPr>
          <a:xfrm>
            <a:off x="10378166" y="3035808"/>
            <a:ext cx="310896" cy="31089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7" name="phases-4-dot"/>
          <p:cNvSpPr/>
          <p:nvPr/>
        </p:nvSpPr>
        <p:spPr>
          <a:xfrm>
            <a:off x="10433030" y="3090672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phases-4-title"/>
          <p:cNvSpPr txBox="1"/>
          <p:nvPr/>
        </p:nvSpPr>
        <p:spPr>
          <a:xfrm>
            <a:off x="9515612" y="3557016"/>
            <a:ext cx="2036003" cy="261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운영 이관</a:t>
            </a:r>
            <a:endParaRPr lang="en-US" sz="1300" dirty="0"/>
          </a:p>
        </p:txBody>
      </p:sp>
      <p:sp>
        <p:nvSpPr>
          <p:cNvPr id="29" name="phases-4-desc"/>
          <p:cNvSpPr txBox="1"/>
          <p:nvPr/>
        </p:nvSpPr>
        <p:spPr>
          <a:xfrm>
            <a:off x="9533900" y="3946271"/>
            <a:ext cx="1999427" cy="2088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운영 매뉴얼 작성과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담당자 교육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 txBox="1"/>
          <p:nvPr/>
        </p:nvSpPr>
        <p:spPr>
          <a:xfrm>
            <a:off x="6156655" y="3474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Project FlowChart</a:t>
            </a:r>
            <a:endParaRPr lang="en-US" sz="1100" dirty="0"/>
          </a:p>
        </p:txBody>
      </p:sp>
      <p:sp>
        <p:nvSpPr>
          <p:cNvPr id="3" name="phases-line"/>
          <p:cNvSpPr/>
          <p:nvPr/>
        </p:nvSpPr>
        <p:spPr>
          <a:xfrm>
            <a:off x="1935442" y="3191256"/>
            <a:ext cx="8320811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4" name="phases-progress"/>
          <p:cNvSpPr/>
          <p:nvPr/>
        </p:nvSpPr>
        <p:spPr>
          <a:xfrm>
            <a:off x="1935442" y="3191256"/>
            <a:ext cx="5547208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5" name="phases-0-label"/>
          <p:cNvSpPr txBox="1"/>
          <p:nvPr/>
        </p:nvSpPr>
        <p:spPr>
          <a:xfrm>
            <a:off x="548640" y="2624328"/>
            <a:ext cx="2773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1</a:t>
            </a:r>
            <a:endParaRPr lang="en-US" sz="1100" dirty="0"/>
          </a:p>
        </p:txBody>
      </p:sp>
      <p:sp>
        <p:nvSpPr>
          <p:cNvPr id="6" name="phases-0-halo"/>
          <p:cNvSpPr/>
          <p:nvPr/>
        </p:nvSpPr>
        <p:spPr>
          <a:xfrm>
            <a:off x="1779994" y="3035808"/>
            <a:ext cx="310896" cy="310896"/>
          </a:xfrm>
          <a:prstGeom prst="ellipse">
            <a:avLst/>
          </a:prstGeom>
          <a:solidFill>
            <a:schemeClr val="tx2">
              <a:alpha val="40000"/>
            </a:schemeClr>
          </a:solidFill>
          <a:ln/>
        </p:spPr>
      </p:sp>
      <p:sp>
        <p:nvSpPr>
          <p:cNvPr id="7" name="phases-0-dot"/>
          <p:cNvSpPr/>
          <p:nvPr/>
        </p:nvSpPr>
        <p:spPr>
          <a:xfrm>
            <a:off x="1834858" y="3090672"/>
            <a:ext cx="201168" cy="20116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phases-0-title"/>
          <p:cNvSpPr txBox="1"/>
          <p:nvPr/>
        </p:nvSpPr>
        <p:spPr>
          <a:xfrm>
            <a:off x="640080" y="3557016"/>
            <a:ext cx="2590724" cy="277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로봇 셋업</a:t>
            </a:r>
            <a:endParaRPr lang="en-US" sz="1400" dirty="0"/>
          </a:p>
        </p:txBody>
      </p:sp>
      <p:sp>
        <p:nvSpPr>
          <p:cNvPr id="9" name="phases-0-desc"/>
          <p:cNvSpPr txBox="1"/>
          <p:nvPr/>
        </p:nvSpPr>
        <p:spPr>
          <a:xfrm>
            <a:off x="658368" y="3962146"/>
            <a:ext cx="2554148" cy="2072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컨트롤러 연결과 관절 리밋 확인,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티칭 포인트 등록</a:t>
            </a:r>
            <a:endParaRPr lang="en-US" sz="1100" dirty="0"/>
          </a:p>
        </p:txBody>
      </p:sp>
      <p:sp>
        <p:nvSpPr>
          <p:cNvPr id="10" name="phases-1-label"/>
          <p:cNvSpPr txBox="1"/>
          <p:nvPr/>
        </p:nvSpPr>
        <p:spPr>
          <a:xfrm>
            <a:off x="3322244" y="2624328"/>
            <a:ext cx="2773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2</a:t>
            </a:r>
            <a:endParaRPr lang="en-US" sz="1100" dirty="0"/>
          </a:p>
        </p:txBody>
      </p:sp>
      <p:sp>
        <p:nvSpPr>
          <p:cNvPr id="11" name="phases-1-halo"/>
          <p:cNvSpPr/>
          <p:nvPr/>
        </p:nvSpPr>
        <p:spPr>
          <a:xfrm>
            <a:off x="4553598" y="3035808"/>
            <a:ext cx="310896" cy="310896"/>
          </a:xfrm>
          <a:prstGeom prst="ellipse">
            <a:avLst/>
          </a:prstGeom>
          <a:solidFill>
            <a:schemeClr val="tx2">
              <a:alpha val="40000"/>
            </a:schemeClr>
          </a:solidFill>
          <a:ln/>
        </p:spPr>
      </p:sp>
      <p:sp>
        <p:nvSpPr>
          <p:cNvPr id="12" name="phases-1-dot"/>
          <p:cNvSpPr/>
          <p:nvPr/>
        </p:nvSpPr>
        <p:spPr>
          <a:xfrm>
            <a:off x="4608462" y="3090672"/>
            <a:ext cx="201168" cy="20116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phases-1-title"/>
          <p:cNvSpPr txBox="1"/>
          <p:nvPr/>
        </p:nvSpPr>
        <p:spPr>
          <a:xfrm>
            <a:off x="3413684" y="3557016"/>
            <a:ext cx="2590724" cy="277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카메라 셋업</a:t>
            </a:r>
            <a:endParaRPr lang="en-US" sz="1400" dirty="0"/>
          </a:p>
        </p:txBody>
      </p:sp>
      <p:sp>
        <p:nvSpPr>
          <p:cNvPr id="14" name="phases-1-desc"/>
          <p:cNvSpPr txBox="1"/>
          <p:nvPr/>
        </p:nvSpPr>
        <p:spPr>
          <a:xfrm>
            <a:off x="3431972" y="3962146"/>
            <a:ext cx="2554148" cy="2072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카메라 장착과 hand-eye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캘리브레이션, 대상 인식 확인</a:t>
            </a:r>
            <a:endParaRPr lang="en-US" sz="1100" dirty="0"/>
          </a:p>
        </p:txBody>
      </p:sp>
      <p:sp>
        <p:nvSpPr>
          <p:cNvPr id="15" name="phases-2-label"/>
          <p:cNvSpPr txBox="1"/>
          <p:nvPr/>
        </p:nvSpPr>
        <p:spPr>
          <a:xfrm>
            <a:off x="6095848" y="2624328"/>
            <a:ext cx="2773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3</a:t>
            </a:r>
            <a:endParaRPr lang="en-US" sz="1100" dirty="0"/>
          </a:p>
        </p:txBody>
      </p:sp>
      <p:sp>
        <p:nvSpPr>
          <p:cNvPr id="16" name="phases-2-halo"/>
          <p:cNvSpPr/>
          <p:nvPr/>
        </p:nvSpPr>
        <p:spPr>
          <a:xfrm>
            <a:off x="7327202" y="3035808"/>
            <a:ext cx="310896" cy="310896"/>
          </a:xfrm>
          <a:prstGeom prst="ellipse">
            <a:avLst/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17" name="phases-2-dot"/>
          <p:cNvSpPr/>
          <p:nvPr/>
        </p:nvSpPr>
        <p:spPr>
          <a:xfrm>
            <a:off x="7382066" y="3090672"/>
            <a:ext cx="201168" cy="2011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phases-2-title"/>
          <p:cNvSpPr txBox="1"/>
          <p:nvPr/>
        </p:nvSpPr>
        <p:spPr>
          <a:xfrm>
            <a:off x="6187288" y="3557016"/>
            <a:ext cx="2590724" cy="277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대차 PLC 통합</a:t>
            </a:r>
            <a:endParaRPr lang="en-US" sz="1400" dirty="0"/>
          </a:p>
        </p:txBody>
      </p:sp>
      <p:sp>
        <p:nvSpPr>
          <p:cNvPr id="19" name="phases-2-desc"/>
          <p:cNvSpPr txBox="1"/>
          <p:nvPr/>
        </p:nvSpPr>
        <p:spPr>
          <a:xfrm>
            <a:off x="6205576" y="3962146"/>
            <a:ext cx="2554148" cy="2072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Modbus 로 대차 도착 신호를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받아 시퀀스와 연동</a:t>
            </a:r>
            <a:endParaRPr lang="en-US" sz="1100" dirty="0"/>
          </a:p>
        </p:txBody>
      </p:sp>
      <p:sp>
        <p:nvSpPr>
          <p:cNvPr id="20" name="phases-3-label"/>
          <p:cNvSpPr txBox="1"/>
          <p:nvPr/>
        </p:nvSpPr>
        <p:spPr>
          <a:xfrm>
            <a:off x="8869451" y="2624328"/>
            <a:ext cx="2773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Phase 4</a:t>
            </a:r>
            <a:endParaRPr lang="en-US" sz="1100" dirty="0"/>
          </a:p>
        </p:txBody>
      </p:sp>
      <p:sp>
        <p:nvSpPr>
          <p:cNvPr id="21" name="phases-3-halo"/>
          <p:cNvSpPr/>
          <p:nvPr/>
        </p:nvSpPr>
        <p:spPr>
          <a:xfrm>
            <a:off x="10100805" y="3035808"/>
            <a:ext cx="310896" cy="31089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2" name="phases-3-dot"/>
          <p:cNvSpPr/>
          <p:nvPr/>
        </p:nvSpPr>
        <p:spPr>
          <a:xfrm>
            <a:off x="10155669" y="3090672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phases-3-title"/>
          <p:cNvSpPr txBox="1"/>
          <p:nvPr/>
        </p:nvSpPr>
        <p:spPr>
          <a:xfrm>
            <a:off x="8960891" y="3557016"/>
            <a:ext cx="2590724" cy="277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전체 시퀀스 테스트</a:t>
            </a:r>
            <a:endParaRPr lang="en-US" sz="1400" dirty="0"/>
          </a:p>
        </p:txBody>
      </p:sp>
      <p:sp>
        <p:nvSpPr>
          <p:cNvPr id="24" name="phases-3-desc"/>
          <p:cNvSpPr txBox="1"/>
          <p:nvPr/>
        </p:nvSpPr>
        <p:spPr>
          <a:xfrm>
            <a:off x="8979179" y="3962146"/>
            <a:ext cx="2554148" cy="2072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픽업부터 적재까지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전체 흐름을 반복 시험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2743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로봇 셋업</a:t>
            </a:r>
            <a:endParaRPr lang="en-US" sz="24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9144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(한 줄 요약) ~ 확인</a:t>
            </a:r>
            <a:endParaRPr lang="en-US" sz="1350" dirty="0"/>
          </a:p>
        </p:txBody>
      </p:sp>
      <p:sp>
        <p:nvSpPr>
          <p:cNvPr id="4" name="photo-0-frame"/>
          <p:cNvSpPr/>
          <p:nvPr/>
        </p:nvSpPr>
        <p:spPr>
          <a:xfrm>
            <a:off x="548640" y="1828800"/>
            <a:ext cx="6492240" cy="3840480"/>
          </a:xfrm>
          <a:prstGeom prst="rect">
            <a:avLst/>
          </a:prstGeom>
          <a:solidFill>
            <a:srgbClr val="F4F5F7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photo-0-x1"/>
          <p:cNvSpPr/>
          <p:nvPr/>
        </p:nvSpPr>
        <p:spPr>
          <a:xfrm>
            <a:off x="548640" y="1828800"/>
            <a:ext cx="649224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6" name="photo-0-x2"/>
          <p:cNvSpPr/>
          <p:nvPr/>
        </p:nvSpPr>
        <p:spPr>
          <a:xfrm flipV="1">
            <a:off x="548640" y="1828800"/>
            <a:ext cx="649224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7" name="photo-0-hint"/>
          <p:cNvSpPr txBox="1"/>
          <p:nvPr/>
        </p:nvSpPr>
        <p:spPr>
          <a:xfrm>
            <a:off x="3246120" y="3566160"/>
            <a:ext cx="1097280" cy="365760"/>
          </a:xfrm>
          <a:prstGeom prst="rect">
            <a:avLst/>
          </a:prstGeom>
          <a:solidFill>
            <a:srgbClr val="F4F5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사진</a:t>
            </a:r>
            <a:endParaRPr lang="en-US" sz="1300" dirty="0"/>
          </a:p>
        </p:txBody>
      </p:sp>
      <p:sp>
        <p:nvSpPr>
          <p:cNvPr id="8" name="photo-0-caption"/>
          <p:cNvSpPr txBox="1"/>
          <p:nvPr/>
        </p:nvSpPr>
        <p:spPr>
          <a:xfrm>
            <a:off x="548640" y="5742432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Figure 1. 사진 설명</a:t>
            </a:r>
            <a:endParaRPr lang="en-US" sz="1000" dirty="0"/>
          </a:p>
        </p:txBody>
      </p:sp>
      <p:sp>
        <p:nvSpPr>
          <p:cNvPr id="9" name="sec-0-bar"/>
          <p:cNvSpPr/>
          <p:nvPr/>
        </p:nvSpPr>
        <p:spPr>
          <a:xfrm>
            <a:off x="7452360" y="1865376"/>
            <a:ext cx="0" cy="23774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0" name="sec-0"/>
          <p:cNvSpPr txBox="1"/>
          <p:nvPr/>
        </p:nvSpPr>
        <p:spPr>
          <a:xfrm>
            <a:off x="7562088" y="1828800"/>
            <a:ext cx="40809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진행 내용</a:t>
            </a:r>
            <a:endParaRPr lang="en-US" sz="1500" dirty="0"/>
          </a:p>
        </p:txBody>
      </p:sp>
      <p:sp>
        <p:nvSpPr>
          <p:cNvPr id="11" name="sec-0-list"/>
          <p:cNvSpPr txBox="1"/>
          <p:nvPr/>
        </p:nvSpPr>
        <p:spPr>
          <a:xfrm>
            <a:off x="7562088" y="2240280"/>
            <a:ext cx="4080967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내용 ~ 완료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내용 ~ 확인</a:t>
            </a:r>
            <a:endParaRPr lang="en-US" sz="1300" dirty="0"/>
          </a:p>
        </p:txBody>
      </p:sp>
      <p:sp>
        <p:nvSpPr>
          <p:cNvPr id="12" name="sec-1-bar"/>
          <p:cNvSpPr/>
          <p:nvPr/>
        </p:nvSpPr>
        <p:spPr>
          <a:xfrm>
            <a:off x="7452360" y="3202686"/>
            <a:ext cx="0" cy="23774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3" name="sec-1"/>
          <p:cNvSpPr txBox="1"/>
          <p:nvPr/>
        </p:nvSpPr>
        <p:spPr>
          <a:xfrm>
            <a:off x="7562088" y="3166110"/>
            <a:ext cx="40809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Progress</a:t>
            </a:r>
            <a:endParaRPr lang="en-US" sz="1500" dirty="0"/>
          </a:p>
        </p:txBody>
      </p:sp>
      <p:sp>
        <p:nvSpPr>
          <p:cNvPr id="14" name="sec-1-list"/>
          <p:cNvSpPr txBox="1"/>
          <p:nvPr/>
        </p:nvSpPr>
        <p:spPr>
          <a:xfrm>
            <a:off x="7562088" y="3577590"/>
            <a:ext cx="4080967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(item) done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(item) confirmed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2743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카메라 셋업</a:t>
            </a:r>
            <a:endParaRPr lang="en-US" sz="24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9144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(한 줄 요약) ~ 완료 — 사진 두 장을 나란히 둘 수도 있다</a:t>
            </a:r>
            <a:endParaRPr lang="en-US" sz="1350" dirty="0"/>
          </a:p>
        </p:txBody>
      </p:sp>
      <p:sp>
        <p:nvSpPr>
          <p:cNvPr id="4" name="photo-0-frame"/>
          <p:cNvSpPr/>
          <p:nvPr/>
        </p:nvSpPr>
        <p:spPr>
          <a:xfrm>
            <a:off x="548640" y="1828800"/>
            <a:ext cx="3131820" cy="3840480"/>
          </a:xfrm>
          <a:prstGeom prst="rect">
            <a:avLst/>
          </a:prstGeom>
          <a:solidFill>
            <a:srgbClr val="F4F5F7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photo-0-x1"/>
          <p:cNvSpPr/>
          <p:nvPr/>
        </p:nvSpPr>
        <p:spPr>
          <a:xfrm>
            <a:off x="548640" y="1828800"/>
            <a:ext cx="313182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6" name="photo-0-x2"/>
          <p:cNvSpPr/>
          <p:nvPr/>
        </p:nvSpPr>
        <p:spPr>
          <a:xfrm flipV="1">
            <a:off x="548640" y="1828800"/>
            <a:ext cx="313182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7" name="photo-0-hint"/>
          <p:cNvSpPr txBox="1"/>
          <p:nvPr/>
        </p:nvSpPr>
        <p:spPr>
          <a:xfrm>
            <a:off x="1565910" y="3566160"/>
            <a:ext cx="1097280" cy="365760"/>
          </a:xfrm>
          <a:prstGeom prst="rect">
            <a:avLst/>
          </a:prstGeom>
          <a:solidFill>
            <a:srgbClr val="F4F5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사진</a:t>
            </a:r>
            <a:endParaRPr lang="en-US" sz="1300" dirty="0"/>
          </a:p>
        </p:txBody>
      </p:sp>
      <p:sp>
        <p:nvSpPr>
          <p:cNvPr id="8" name="photo-0-caption"/>
          <p:cNvSpPr txBox="1"/>
          <p:nvPr/>
        </p:nvSpPr>
        <p:spPr>
          <a:xfrm>
            <a:off x="548640" y="5742432"/>
            <a:ext cx="3131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Figure 2. 사진 설명</a:t>
            </a:r>
            <a:endParaRPr lang="en-US" sz="1000" dirty="0"/>
          </a:p>
        </p:txBody>
      </p:sp>
      <p:sp>
        <p:nvSpPr>
          <p:cNvPr id="9" name="photo-1-frame"/>
          <p:cNvSpPr/>
          <p:nvPr/>
        </p:nvSpPr>
        <p:spPr>
          <a:xfrm>
            <a:off x="3909060" y="1828800"/>
            <a:ext cx="3131820" cy="3840480"/>
          </a:xfrm>
          <a:prstGeom prst="rect">
            <a:avLst/>
          </a:prstGeom>
          <a:solidFill>
            <a:srgbClr val="F4F5F7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photo-1-x1"/>
          <p:cNvSpPr/>
          <p:nvPr/>
        </p:nvSpPr>
        <p:spPr>
          <a:xfrm>
            <a:off x="3909060" y="1828800"/>
            <a:ext cx="313182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1" name="photo-1-x2"/>
          <p:cNvSpPr/>
          <p:nvPr/>
        </p:nvSpPr>
        <p:spPr>
          <a:xfrm flipV="1">
            <a:off x="3909060" y="1828800"/>
            <a:ext cx="313182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2" name="photo-1-hint"/>
          <p:cNvSpPr txBox="1"/>
          <p:nvPr/>
        </p:nvSpPr>
        <p:spPr>
          <a:xfrm>
            <a:off x="4926330" y="3566160"/>
            <a:ext cx="1097280" cy="365760"/>
          </a:xfrm>
          <a:prstGeom prst="rect">
            <a:avLst/>
          </a:prstGeom>
          <a:solidFill>
            <a:srgbClr val="F4F5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사진</a:t>
            </a:r>
            <a:endParaRPr lang="en-US" sz="1300" dirty="0"/>
          </a:p>
        </p:txBody>
      </p:sp>
      <p:sp>
        <p:nvSpPr>
          <p:cNvPr id="13" name="photo-1-caption"/>
          <p:cNvSpPr txBox="1"/>
          <p:nvPr/>
        </p:nvSpPr>
        <p:spPr>
          <a:xfrm>
            <a:off x="3909060" y="5742432"/>
            <a:ext cx="3131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Figure 3. 사진 설명</a:t>
            </a:r>
            <a:endParaRPr lang="en-US" sz="1000" dirty="0"/>
          </a:p>
        </p:txBody>
      </p:sp>
      <p:sp>
        <p:nvSpPr>
          <p:cNvPr id="14" name="sec-0-bar"/>
          <p:cNvSpPr/>
          <p:nvPr/>
        </p:nvSpPr>
        <p:spPr>
          <a:xfrm>
            <a:off x="7452360" y="1865376"/>
            <a:ext cx="0" cy="23774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5" name="sec-0"/>
          <p:cNvSpPr txBox="1"/>
          <p:nvPr/>
        </p:nvSpPr>
        <p:spPr>
          <a:xfrm>
            <a:off x="7562088" y="1828800"/>
            <a:ext cx="40809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진행 내용</a:t>
            </a:r>
            <a:endParaRPr lang="en-US" sz="1500" dirty="0"/>
          </a:p>
        </p:txBody>
      </p:sp>
      <p:sp>
        <p:nvSpPr>
          <p:cNvPr id="16" name="sec-0-list"/>
          <p:cNvSpPr txBox="1"/>
          <p:nvPr/>
        </p:nvSpPr>
        <p:spPr>
          <a:xfrm>
            <a:off x="7562088" y="2240280"/>
            <a:ext cx="4080967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내용 ~ 완료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내용 ~ 확인</a:t>
            </a:r>
            <a:endParaRPr lang="en-US" sz="1300" dirty="0"/>
          </a:p>
        </p:txBody>
      </p:sp>
      <p:sp>
        <p:nvSpPr>
          <p:cNvPr id="17" name="sec-1-bar"/>
          <p:cNvSpPr/>
          <p:nvPr/>
        </p:nvSpPr>
        <p:spPr>
          <a:xfrm>
            <a:off x="7452360" y="3202686"/>
            <a:ext cx="0" cy="23774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8" name="sec-1"/>
          <p:cNvSpPr txBox="1"/>
          <p:nvPr/>
        </p:nvSpPr>
        <p:spPr>
          <a:xfrm>
            <a:off x="7562088" y="3166110"/>
            <a:ext cx="40809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Progress</a:t>
            </a:r>
            <a:endParaRPr lang="en-US" sz="1500" dirty="0"/>
          </a:p>
        </p:txBody>
      </p:sp>
      <p:sp>
        <p:nvSpPr>
          <p:cNvPr id="19" name="sec-1-list"/>
          <p:cNvSpPr txBox="1"/>
          <p:nvPr/>
        </p:nvSpPr>
        <p:spPr>
          <a:xfrm>
            <a:off x="7562088" y="3577590"/>
            <a:ext cx="4080967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(item) done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(item) confirmed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2743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대차 PLC 통합</a:t>
            </a:r>
            <a:endParaRPr lang="en-US" sz="24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9144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(한 줄 요약) ~ 진행 중</a:t>
            </a:r>
            <a:endParaRPr lang="en-US" sz="1350" dirty="0"/>
          </a:p>
        </p:txBody>
      </p:sp>
      <p:sp>
        <p:nvSpPr>
          <p:cNvPr id="4" name="photo-0-frame"/>
          <p:cNvSpPr/>
          <p:nvPr/>
        </p:nvSpPr>
        <p:spPr>
          <a:xfrm>
            <a:off x="548640" y="1828800"/>
            <a:ext cx="6492240" cy="3840480"/>
          </a:xfrm>
          <a:prstGeom prst="rect">
            <a:avLst/>
          </a:prstGeom>
          <a:solidFill>
            <a:srgbClr val="F4F5F7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photo-0-x1"/>
          <p:cNvSpPr/>
          <p:nvPr/>
        </p:nvSpPr>
        <p:spPr>
          <a:xfrm>
            <a:off x="548640" y="1828800"/>
            <a:ext cx="649224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6" name="photo-0-x2"/>
          <p:cNvSpPr/>
          <p:nvPr/>
        </p:nvSpPr>
        <p:spPr>
          <a:xfrm flipV="1">
            <a:off x="548640" y="1828800"/>
            <a:ext cx="649224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7" name="photo-0-hint"/>
          <p:cNvSpPr txBox="1"/>
          <p:nvPr/>
        </p:nvSpPr>
        <p:spPr>
          <a:xfrm>
            <a:off x="3246120" y="3566160"/>
            <a:ext cx="1097280" cy="365760"/>
          </a:xfrm>
          <a:prstGeom prst="rect">
            <a:avLst/>
          </a:prstGeom>
          <a:solidFill>
            <a:srgbClr val="F4F5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사진</a:t>
            </a:r>
            <a:endParaRPr lang="en-US" sz="1300" dirty="0"/>
          </a:p>
        </p:txBody>
      </p:sp>
      <p:sp>
        <p:nvSpPr>
          <p:cNvPr id="8" name="photo-0-caption"/>
          <p:cNvSpPr txBox="1"/>
          <p:nvPr/>
        </p:nvSpPr>
        <p:spPr>
          <a:xfrm>
            <a:off x="548640" y="5742432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Figure 4. 사진 설명</a:t>
            </a:r>
            <a:endParaRPr lang="en-US" sz="1000" dirty="0"/>
          </a:p>
        </p:txBody>
      </p:sp>
      <p:sp>
        <p:nvSpPr>
          <p:cNvPr id="9" name="sec-0-bar"/>
          <p:cNvSpPr/>
          <p:nvPr/>
        </p:nvSpPr>
        <p:spPr>
          <a:xfrm>
            <a:off x="7452360" y="1865376"/>
            <a:ext cx="0" cy="23774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0" name="sec-0"/>
          <p:cNvSpPr txBox="1"/>
          <p:nvPr/>
        </p:nvSpPr>
        <p:spPr>
          <a:xfrm>
            <a:off x="7562088" y="1828800"/>
            <a:ext cx="40809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진행 내용</a:t>
            </a:r>
            <a:endParaRPr lang="en-US" sz="1500" dirty="0"/>
          </a:p>
        </p:txBody>
      </p:sp>
      <p:sp>
        <p:nvSpPr>
          <p:cNvPr id="11" name="sec-0-list"/>
          <p:cNvSpPr txBox="1"/>
          <p:nvPr/>
        </p:nvSpPr>
        <p:spPr>
          <a:xfrm>
            <a:off x="7562088" y="2240280"/>
            <a:ext cx="4080967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내용 ~ 완료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내용 ~ 진행 중</a:t>
            </a:r>
            <a:endParaRPr lang="en-US" sz="1300" dirty="0"/>
          </a:p>
        </p:txBody>
      </p:sp>
      <p:sp>
        <p:nvSpPr>
          <p:cNvPr id="12" name="sec-1-bar"/>
          <p:cNvSpPr/>
          <p:nvPr/>
        </p:nvSpPr>
        <p:spPr>
          <a:xfrm>
            <a:off x="7452360" y="3202686"/>
            <a:ext cx="0" cy="23774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3" name="sec-1"/>
          <p:cNvSpPr txBox="1"/>
          <p:nvPr/>
        </p:nvSpPr>
        <p:spPr>
          <a:xfrm>
            <a:off x="7562088" y="3166110"/>
            <a:ext cx="40809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Progress</a:t>
            </a:r>
            <a:endParaRPr lang="en-US" sz="1500" dirty="0"/>
          </a:p>
        </p:txBody>
      </p:sp>
      <p:sp>
        <p:nvSpPr>
          <p:cNvPr id="14" name="sec-1-list"/>
          <p:cNvSpPr txBox="1"/>
          <p:nvPr/>
        </p:nvSpPr>
        <p:spPr>
          <a:xfrm>
            <a:off x="7562088" y="3577590"/>
            <a:ext cx="4080967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(item) done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(item) in progress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2743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전체 시퀀스 테스트</a:t>
            </a:r>
            <a:endParaRPr lang="en-US" sz="24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9144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(한 줄 요약) ~ 예정</a:t>
            </a:r>
            <a:endParaRPr lang="en-US" sz="1350" dirty="0"/>
          </a:p>
        </p:txBody>
      </p:sp>
      <p:sp>
        <p:nvSpPr>
          <p:cNvPr id="4" name="photo-0-frame"/>
          <p:cNvSpPr/>
          <p:nvPr/>
        </p:nvSpPr>
        <p:spPr>
          <a:xfrm>
            <a:off x="548640" y="1828800"/>
            <a:ext cx="6492240" cy="3840480"/>
          </a:xfrm>
          <a:prstGeom prst="rect">
            <a:avLst/>
          </a:prstGeom>
          <a:solidFill>
            <a:srgbClr val="F4F5F7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photo-0-x1"/>
          <p:cNvSpPr/>
          <p:nvPr/>
        </p:nvSpPr>
        <p:spPr>
          <a:xfrm>
            <a:off x="548640" y="1828800"/>
            <a:ext cx="649224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6" name="photo-0-x2"/>
          <p:cNvSpPr/>
          <p:nvPr/>
        </p:nvSpPr>
        <p:spPr>
          <a:xfrm flipV="1">
            <a:off x="548640" y="1828800"/>
            <a:ext cx="649224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7" name="photo-0-hint"/>
          <p:cNvSpPr txBox="1"/>
          <p:nvPr/>
        </p:nvSpPr>
        <p:spPr>
          <a:xfrm>
            <a:off x="3246120" y="3566160"/>
            <a:ext cx="1097280" cy="365760"/>
          </a:xfrm>
          <a:prstGeom prst="rect">
            <a:avLst/>
          </a:prstGeom>
          <a:solidFill>
            <a:srgbClr val="F4F5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사진</a:t>
            </a:r>
            <a:endParaRPr lang="en-US" sz="1300" dirty="0"/>
          </a:p>
        </p:txBody>
      </p:sp>
      <p:sp>
        <p:nvSpPr>
          <p:cNvPr id="8" name="photo-0-caption"/>
          <p:cNvSpPr txBox="1"/>
          <p:nvPr/>
        </p:nvSpPr>
        <p:spPr>
          <a:xfrm>
            <a:off x="548640" y="5742432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Figure 5. 구성도 또는 계획</a:t>
            </a:r>
            <a:endParaRPr lang="en-US" sz="1000" dirty="0"/>
          </a:p>
        </p:txBody>
      </p:sp>
      <p:sp>
        <p:nvSpPr>
          <p:cNvPr id="9" name="sec-0-bar"/>
          <p:cNvSpPr/>
          <p:nvPr/>
        </p:nvSpPr>
        <p:spPr>
          <a:xfrm>
            <a:off x="7452360" y="1865376"/>
            <a:ext cx="0" cy="23774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0" name="sec-0"/>
          <p:cNvSpPr txBox="1"/>
          <p:nvPr/>
        </p:nvSpPr>
        <p:spPr>
          <a:xfrm>
            <a:off x="7562088" y="1828800"/>
            <a:ext cx="40809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진행 내용</a:t>
            </a:r>
            <a:endParaRPr lang="en-US" sz="1500" dirty="0"/>
          </a:p>
        </p:txBody>
      </p:sp>
      <p:sp>
        <p:nvSpPr>
          <p:cNvPr id="11" name="sec-0-list"/>
          <p:cNvSpPr txBox="1"/>
          <p:nvPr/>
        </p:nvSpPr>
        <p:spPr>
          <a:xfrm>
            <a:off x="7562088" y="2240280"/>
            <a:ext cx="4080967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내용 ~ 예정</a:t>
            </a:r>
            <a:endParaRPr lang="en-US" sz="1300" dirty="0"/>
          </a:p>
        </p:txBody>
      </p:sp>
      <p:sp>
        <p:nvSpPr>
          <p:cNvPr id="12" name="sec-1-bar"/>
          <p:cNvSpPr/>
          <p:nvPr/>
        </p:nvSpPr>
        <p:spPr>
          <a:xfrm>
            <a:off x="7452360" y="2945511"/>
            <a:ext cx="0" cy="23774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3" name="sec-1"/>
          <p:cNvSpPr txBox="1"/>
          <p:nvPr/>
        </p:nvSpPr>
        <p:spPr>
          <a:xfrm>
            <a:off x="7562088" y="2908935"/>
            <a:ext cx="40809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Progress</a:t>
            </a:r>
            <a:endParaRPr lang="en-US" sz="1500" dirty="0"/>
          </a:p>
        </p:txBody>
      </p:sp>
      <p:sp>
        <p:nvSpPr>
          <p:cNvPr id="14" name="sec-1-list"/>
          <p:cNvSpPr txBox="1"/>
          <p:nvPr/>
        </p:nvSpPr>
        <p:spPr>
          <a:xfrm>
            <a:off x="7562088" y="3320415"/>
            <a:ext cx="4080967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(item) planned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2743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리스크</a:t>
            </a:r>
            <a:endParaRPr lang="en-US" sz="24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9144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등급 · 리스크 · 영향 · 대응을 한 표에.</a:t>
            </a:r>
            <a:endParaRPr lang="en-US" sz="1350" dirty="0"/>
          </a:p>
        </p:txBody>
      </p:sp>
      <p:sp>
        <p:nvSpPr>
          <p:cNvPr id="4" name="tab"/>
          <p:cNvSpPr txBox="1"/>
          <p:nvPr/>
        </p:nvSpPr>
        <p:spPr>
          <a:xfrm>
            <a:off x="548640" y="1874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Table 1. 주요 리스크와 대응</a:t>
            </a:r>
            <a:endParaRPr lang="en-US" sz="1000" dirty="0"/>
          </a:p>
        </p:txBody>
      </p:sp>
      <p:graphicFrame>
        <p:nvGraphicFramePr>
          <p:cNvPr id="9" name="risk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4480560"/>
                <a:gridCol w="3139135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12D6A"/>
                          </a:solidFill>
                        </a:rPr>
                        <a:t>등급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12D6A"/>
                          </a:solidFill>
                        </a:rPr>
                        <a:t>리스크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12D6A"/>
                          </a:solidFill>
                        </a:rPr>
                        <a:t>영향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12D6A"/>
                          </a:solidFill>
                        </a:rPr>
                        <a:t>대응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</a:rPr>
                        <a:t>높음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</a:rPr>
                        <a:t>리스크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</a:rPr>
                        <a:t>영향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</a:rPr>
                        <a:t>대응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12D6A"/>
                          </a:solidFill>
                        </a:rPr>
                        <a:t>중간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</a:rPr>
                        <a:t>리스크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</a:rPr>
                        <a:t>영향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</a:rPr>
                        <a:t>대응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2743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다음 단계</a:t>
            </a:r>
            <a:endParaRPr lang="en-US" sz="24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9144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순서대로 할 일과, 듣는 사람에게 요청할 것.</a:t>
            </a:r>
            <a:endParaRPr lang="en-US" sz="1350" dirty="0"/>
          </a:p>
        </p:txBody>
      </p:sp>
      <p:sp>
        <p:nvSpPr>
          <p:cNvPr id="4" name="next-0-pill"/>
          <p:cNvSpPr/>
          <p:nvPr/>
        </p:nvSpPr>
        <p:spPr>
          <a:xfrm>
            <a:off x="804672" y="2057400"/>
            <a:ext cx="6510528" cy="42062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5" name="next-0-num"/>
          <p:cNvSpPr/>
          <p:nvPr/>
        </p:nvSpPr>
        <p:spPr>
          <a:xfrm>
            <a:off x="548640" y="2011680"/>
            <a:ext cx="512064" cy="51206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6" name="next-0-numtext"/>
          <p:cNvSpPr txBox="1"/>
          <p:nvPr/>
        </p:nvSpPr>
        <p:spPr>
          <a:xfrm>
            <a:off x="548640" y="2011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next-0-text"/>
          <p:cNvSpPr txBox="1"/>
          <p:nvPr/>
        </p:nvSpPr>
        <p:spPr>
          <a:xfrm>
            <a:off x="1243584" y="2011680"/>
            <a:ext cx="5934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할 일</a:t>
            </a:r>
            <a:endParaRPr lang="en-US" sz="1400" dirty="0"/>
          </a:p>
        </p:txBody>
      </p:sp>
      <p:sp>
        <p:nvSpPr>
          <p:cNvPr id="8" name="next-1-pill"/>
          <p:cNvSpPr/>
          <p:nvPr/>
        </p:nvSpPr>
        <p:spPr>
          <a:xfrm>
            <a:off x="804672" y="2807208"/>
            <a:ext cx="6510528" cy="42062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9" name="next-1-num"/>
          <p:cNvSpPr/>
          <p:nvPr/>
        </p:nvSpPr>
        <p:spPr>
          <a:xfrm>
            <a:off x="548640" y="2761488"/>
            <a:ext cx="512064" cy="51206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next-1-numtext"/>
          <p:cNvSpPr txBox="1"/>
          <p:nvPr/>
        </p:nvSpPr>
        <p:spPr>
          <a:xfrm>
            <a:off x="548640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next-1-text"/>
          <p:cNvSpPr txBox="1"/>
          <p:nvPr/>
        </p:nvSpPr>
        <p:spPr>
          <a:xfrm>
            <a:off x="1243584" y="2761488"/>
            <a:ext cx="5934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할 일</a:t>
            </a:r>
            <a:endParaRPr lang="en-US" sz="1400" dirty="0"/>
          </a:p>
        </p:txBody>
      </p:sp>
      <p:sp>
        <p:nvSpPr>
          <p:cNvPr id="12" name="next-2-pill"/>
          <p:cNvSpPr/>
          <p:nvPr/>
        </p:nvSpPr>
        <p:spPr>
          <a:xfrm>
            <a:off x="804672" y="3557016"/>
            <a:ext cx="6510528" cy="42062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3" name="next-2-num"/>
          <p:cNvSpPr/>
          <p:nvPr/>
        </p:nvSpPr>
        <p:spPr>
          <a:xfrm>
            <a:off x="548640" y="3511296"/>
            <a:ext cx="512064" cy="51206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next-2-numtext"/>
          <p:cNvSpPr txBox="1"/>
          <p:nvPr/>
        </p:nvSpPr>
        <p:spPr>
          <a:xfrm>
            <a:off x="548640" y="35112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next-2-text"/>
          <p:cNvSpPr txBox="1"/>
          <p:nvPr/>
        </p:nvSpPr>
        <p:spPr>
          <a:xfrm>
            <a:off x="1243584" y="3511296"/>
            <a:ext cx="5934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할 일</a:t>
            </a:r>
            <a:endParaRPr lang="en-US" sz="1400" dirty="0"/>
          </a:p>
        </p:txBody>
      </p:sp>
      <p:sp>
        <p:nvSpPr>
          <p:cNvPr id="16" name="next-3-pill"/>
          <p:cNvSpPr/>
          <p:nvPr/>
        </p:nvSpPr>
        <p:spPr>
          <a:xfrm>
            <a:off x="804672" y="4306824"/>
            <a:ext cx="6510528" cy="42062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next-3-num"/>
          <p:cNvSpPr/>
          <p:nvPr/>
        </p:nvSpPr>
        <p:spPr>
          <a:xfrm>
            <a:off x="548640" y="4261104"/>
            <a:ext cx="512064" cy="51206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next-3-numtext"/>
          <p:cNvSpPr txBox="1"/>
          <p:nvPr/>
        </p:nvSpPr>
        <p:spPr>
          <a:xfrm>
            <a:off x="548640" y="42611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next-3-text"/>
          <p:cNvSpPr txBox="1"/>
          <p:nvPr/>
        </p:nvSpPr>
        <p:spPr>
          <a:xfrm>
            <a:off x="1243584" y="4261104"/>
            <a:ext cx="5934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할 일</a:t>
            </a:r>
            <a:endParaRPr lang="en-US" sz="1400" dirty="0"/>
          </a:p>
        </p:txBody>
      </p:sp>
      <p:sp>
        <p:nvSpPr>
          <p:cNvPr id="20" name="ask"/>
          <p:cNvSpPr/>
          <p:nvPr/>
        </p:nvSpPr>
        <p:spPr>
          <a:xfrm>
            <a:off x="7772400" y="2148840"/>
            <a:ext cx="3870655" cy="3566160"/>
          </a:xfrm>
          <a:prstGeom prst="roundRect">
            <a:avLst>
              <a:gd name="adj" fmla="val 1282"/>
            </a:avLst>
          </a:prstGeom>
          <a:solidFill>
            <a:schemeClr val="bg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1" name="ask-tab"/>
          <p:cNvSpPr/>
          <p:nvPr/>
        </p:nvSpPr>
        <p:spPr>
          <a:xfrm>
            <a:off x="7955280" y="1965960"/>
            <a:ext cx="1234440" cy="36576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2" name="ask-tabtext"/>
          <p:cNvSpPr txBox="1"/>
          <p:nvPr/>
        </p:nvSpPr>
        <p:spPr>
          <a:xfrm>
            <a:off x="7955280" y="19659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사항</a:t>
            </a:r>
            <a:endParaRPr lang="en-US" sz="1300" dirty="0"/>
          </a:p>
        </p:txBody>
      </p:sp>
      <p:sp>
        <p:nvSpPr>
          <p:cNvPr id="23" name="ask-list"/>
          <p:cNvSpPr txBox="1"/>
          <p:nvPr/>
        </p:nvSpPr>
        <p:spPr>
          <a:xfrm>
            <a:off x="8046720" y="2514600"/>
            <a:ext cx="332201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요청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요청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097280" y="1463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감사합니다</a:t>
            </a:r>
            <a:endParaRPr lang="en-US" sz="4800" dirty="0"/>
          </a:p>
        </p:txBody>
      </p:sp>
      <p:sp>
        <p:nvSpPr>
          <p:cNvPr id="3" name="close-sub"/>
          <p:cNvSpPr txBox="1"/>
          <p:nvPr/>
        </p:nvSpPr>
        <p:spPr>
          <a:xfrm>
            <a:off x="1097280" y="2423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프로젝트 중간 보고</a:t>
            </a:r>
            <a:endParaRPr lang="en-US" sz="1600" dirty="0"/>
          </a:p>
        </p:txBody>
      </p:sp>
      <p:sp>
        <p:nvSpPr>
          <p:cNvPr id="4" name="close-org"/>
          <p:cNvSpPr txBox="1"/>
          <p:nvPr/>
        </p:nvSpPr>
        <p:spPr>
          <a:xfrm>
            <a:off x="1097280" y="4709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회사 · 부서</a:t>
            </a:r>
            <a:endParaRPr lang="en-US" sz="1300" dirty="0"/>
          </a:p>
        </p:txBody>
      </p:sp>
      <p:sp>
        <p:nvSpPr>
          <p:cNvPr id="5" name="close-name"/>
          <p:cNvSpPr txBox="1"/>
          <p:nvPr/>
        </p:nvSpPr>
        <p:spPr>
          <a:xfrm>
            <a:off x="1097280" y="50749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직책 이름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Report navy">
      <a:dk1>
        <a:srgbClr val="222222"/>
      </a:dk1>
      <a:lt1>
        <a:srgbClr val="FFFFFF"/>
      </a:lt1>
      <a:dk2>
        <a:srgbClr val="012D6A"/>
      </a:dk2>
      <a:lt2>
        <a:srgbClr val="EEF2F8"/>
      </a:lt2>
      <a:accent1>
        <a:srgbClr val="1F4E94"/>
      </a:accent1>
      <a:accent2>
        <a:srgbClr val="8A9BB8"/>
      </a:accent2>
      <a:accent3>
        <a:srgbClr val="6E6E6E"/>
      </a:accent3>
      <a:accent4>
        <a:srgbClr val="262626"/>
      </a:accent4>
      <a:accent5>
        <a:srgbClr val="C0392B"/>
      </a:accent5>
      <a:accent6>
        <a:srgbClr val="D9DEE7"/>
      </a:accent6>
      <a:hlink>
        <a:srgbClr val="012D6A"/>
      </a:hlink>
      <a:folHlink>
        <a:srgbClr val="6E6E6E"/>
      </a:folHlink>
    </a:clrScheme>
    <a:fontScheme name="Office">
      <a:majorFont>
        <a:latin typeface="Pretendard"/>
        <a:ea typeface="Pretendard"/>
        <a:cs typeface="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Pretendard"/>
        <a:cs typeface="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중간 보고</dc:title>
  <dc:subject>PptxGenJS Presentation</dc:subject>
  <dc:creator>PptxGenJS</dc:creator>
  <cp:lastModifiedBy>PptxGenJS</cp:lastModifiedBy>
  <cp:revision>1</cp:revision>
  <dcterms:created xsi:type="dcterms:W3CDTF">2026-10-13T02:24:58Z</dcterms:created>
  <dcterms:modified xsi:type="dcterms:W3CDTF">2026-10-13T02:24:58Z</dcterms:modified>
</cp:coreProperties>
</file>